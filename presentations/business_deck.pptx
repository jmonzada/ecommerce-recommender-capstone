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4223C"/>
                </a:solidFill>
              </a:defRPr>
            </a:pPr>
            <a:r>
              <a:t>Bringing customers back</a:t>
            </a:r>
          </a:p>
          <a:p>
            <a:pPr>
              <a:defRPr sz="2400">
                <a:solidFill>
                  <a:srgbClr val="1F6FC4"/>
                </a:solidFill>
              </a:defRPr>
            </a:pPr>
            <a:r>
              <a:t>A product recommendation engine for the Olist marketplace</a:t>
            </a:r>
          </a:p>
          <a:p>
            <a:pPr>
              <a:defRPr sz="1600">
                <a:solidFill>
                  <a:srgbClr val="5A6470"/>
                </a:solidFill>
              </a:defRPr>
            </a:pPr>
            <a:r>
              <a:t>Daniel Jethro Monzada · AI/ML capstone · July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Data: Brazilian E-Commerce Public Dataset by Olist (Kaggle, CC BY-NC-SA 4.0).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97 of every 100 customers never come 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96.9%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customers have placed</a:t>
            </a:r>
            <a:br/>
            <a:r>
              <a:t>exactly one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3.12%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repeat-purchase rate</a:t>
            </a:r>
            <a:br/>
            <a:r>
              <a:t>(2,997 of 96,096 customers)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0.02%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recommendation slots reach</a:t>
            </a:r>
            <a:br/>
            <a:r>
              <a:t>small sellers without intervention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Customer acquisition spend buys, on average, exactly one order.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Olist's pitch to small merchants is exposure — a bestseller-only storefront quietly breaks that promise.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Today there is no personalisation: every visitor sees the same popular products.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Small movements in retention are worth real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960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additional returning customers</a:t>
            </a:r>
            <a:br/>
            <a:r>
              <a:t>per +1pp repeat-purchase rate</a:t>
            </a:r>
            <a:br/>
            <a:r>
              <a:t>(arithmetic, not a forecast)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920240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≈ R$130k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in orders that +1pp represents,</a:t>
            </a:r>
            <a:br/>
            <a:r>
              <a:t>at the observed R$137</a:t>
            </a:r>
            <a:br/>
            <a:r>
              <a:t>average order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Returning customers arrive with history — they're exactly the ones a recommender can serve well.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For the single-purchase majority, the win is smarter first-purchase cross-sell and regional merchandising, not personalisation.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For sellers: measurable exposure for rarely-shown products protects the marketplace's supply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Scope honesty: personalisation applies to the ~3% with history today; the engine handles everyone, but with different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What the engine does — no math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Step 1 — builds a shortlist: products similar to what you've bought, plus what shoppers like you buy.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Step 2 — ranks the shortlist: a model scores how likely you are to actually purchase each item.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Brand-new visitor? It falls back gracefully: bestsellers for your region, or overall.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Every recommendation can explain itself in one plain sentence — "why you're seeing this".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Runs as a small web service in a container — serving exactly the pipeline the evaluation graded.</a:t>
            </a:r>
          </a:p>
        </p:txBody>
      </p:sp>
      <p:sp>
        <p:nvSpPr>
          <p:cNvPr id="5" name="Chevron 4"/>
          <p:cNvSpPr/>
          <p:nvPr/>
        </p:nvSpPr>
        <p:spPr>
          <a:xfrm>
            <a:off x="731520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Your history</a:t>
            </a:r>
          </a:p>
        </p:txBody>
      </p:sp>
      <p:sp>
        <p:nvSpPr>
          <p:cNvPr id="6" name="Chevron 5"/>
          <p:cNvSpPr/>
          <p:nvPr/>
        </p:nvSpPr>
        <p:spPr>
          <a:xfrm>
            <a:off x="3502152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Shortlist (hundreds)</a:t>
            </a:r>
          </a:p>
        </p:txBody>
      </p:sp>
      <p:sp>
        <p:nvSpPr>
          <p:cNvPr id="7" name="Chevron 6"/>
          <p:cNvSpPr/>
          <p:nvPr/>
        </p:nvSpPr>
        <p:spPr>
          <a:xfrm>
            <a:off x="6272784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Ranked top-10</a:t>
            </a:r>
          </a:p>
        </p:txBody>
      </p:sp>
      <p:sp>
        <p:nvSpPr>
          <p:cNvPr id="8" name="Chevron 7"/>
          <p:cNvSpPr/>
          <p:nvPr/>
        </p:nvSpPr>
        <p:spPr>
          <a:xfrm>
            <a:off x="9043416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Plain-language why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What the evaluation says —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374903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1 in 5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returning buyers get their next</a:t>
            </a:r>
            <a:br/>
            <a:r>
              <a:t>purchase in the top-10 shortlist</a:t>
            </a:r>
            <a:br/>
            <a:r>
              <a:t>— vs 1 in 32 with bestsellers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2024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+20%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full pipeline over the shortlist</a:t>
            </a:r>
            <a:br/>
            <a:r>
              <a:t>alone, on a strictly past-only</a:t>
            </a:r>
            <a:br/>
            <a:r>
              <a:t>holdout (statistically 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92024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F6FC4"/>
                </a:solidFill>
              </a:defRPr>
            </a:pPr>
            <a:r>
              <a:t>37%</a:t>
            </a:r>
          </a:p>
          <a:p>
            <a:pPr algn="ctr">
              <a:defRPr sz="1500">
                <a:solidFill>
                  <a:srgbClr val="5A6470"/>
                </a:solidFill>
              </a:defRPr>
            </a:pPr>
            <a:r>
              <a:t>of the catalogue reachable in</a:t>
            </a:r>
            <a:br/>
            <a:r>
              <a:t>returning buyers' shortlists —</a:t>
            </a:r>
            <a:br/>
            <a:r>
              <a:t>a bestseller feed shows 10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Two test beds, labelled honestly: shortlist quality is graded on returning buyers' held-out orders; the deployed pipeline on a strictly past-only three-month holdout.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All numbers are offline estimates — the honest next step is a live A/B test, and the rollout plan is built around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For the technical appendix: shortlist hit rate 0.203 vs 0.031 popularity (leave-last-order-out, 1,949 repeat buyers); end-to-end +0.0024 [+0.0008, +0.0041] Hit@10 vs shortlist-only; shortlist coverage 0.371; live top-10 coverage 0.071 → 0.102 with the seller dial.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FAIRNESS &amp; BRAND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We audited the bias before anyone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766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Recommendation quality is not uniform: Northeast customers currently get the best results — found, explained (it starts in the shortlist stage), and monitored.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Without intervention, small sellers (5.9% of the catalogue) receive 0.02% of top-10 slots — a direct risk to the exposure promise.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We built a dial, and measured both sides of it: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Keep all 10 slots for relevance → best hit rate, near-zero small-seller exposure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Reserve 3 of 10 slots for under-exposed products → small sellers ×4.3, rarely-shown products ×2.1, at ~15% hit-rate cost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Southern customers pay the most for that dial — quantified, so the trade-off is a decision, not an accident</a:t>
            </a:r>
          </a:p>
        </p:txBody>
      </p:sp>
      <p:pic>
        <p:nvPicPr>
          <p:cNvPr id="5" name="Picture 4" descr="04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737360"/>
            <a:ext cx="4023360" cy="3352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A6470"/>
                </a:solidFill>
              </a:defRPr>
            </a:pPr>
            <a:r>
              <a:t>Where to set the dial is a business decision. Our recommendation: validate on newer data than we tuned on, then start conservative (1 reserved slot) and measure.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TRUST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Built for trust from day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Explainable: every score decomposes into signals; customers see a plain-language reason.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No demographics used anywhere — geography is audited precisely because it proxies income.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Privacy: no customer identifiers leave our systems, including to the AI vendor that writes explanations.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Monitored in production: customer-mix drift, score drift, live hit rate, and monthly seller-exposure checks.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Reversible: every release is a tagged snapshot; rollback is redeploying the previous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Rollout: prove it live before trusting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1 — shadow mode (2–4 weeks): serve recommendations silently, compare against actual purchases.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2 — A/B test on returning buyers: recommendation rail vs bestseller rail; primary metric = repeat-purchase rate.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3 — regional merchandising for new visitors, measured on first-purchase cross-sell.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Phase 4 — seller-exposure dial, set with the merchant team after validating on newer data.</a:t>
            </a:r>
          </a:p>
          <a:p>
            <a:pPr>
              <a:spcAft>
                <a:spcPts val="1000"/>
              </a:spcAft>
              <a:defRPr sz="1800">
                <a:solidFill>
                  <a:srgbClr val="14223C"/>
                </a:solidFill>
              </a:defRPr>
            </a:pPr>
            <a:r>
              <a:t>• Each phase has a kill switch; the offline numbers set expectations, the live numbers decide.</a:t>
            </a:r>
          </a:p>
        </p:txBody>
      </p:sp>
      <p:sp>
        <p:nvSpPr>
          <p:cNvPr id="5" name="Chevron 4"/>
          <p:cNvSpPr/>
          <p:nvPr/>
        </p:nvSpPr>
        <p:spPr>
          <a:xfrm>
            <a:off x="731520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1 · Shadow</a:t>
            </a:r>
          </a:p>
        </p:txBody>
      </p:sp>
      <p:sp>
        <p:nvSpPr>
          <p:cNvPr id="6" name="Chevron 5"/>
          <p:cNvSpPr/>
          <p:nvPr/>
        </p:nvSpPr>
        <p:spPr>
          <a:xfrm>
            <a:off x="3502152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2 · A/B returning buyers</a:t>
            </a:r>
          </a:p>
        </p:txBody>
      </p:sp>
      <p:sp>
        <p:nvSpPr>
          <p:cNvPr id="7" name="Chevron 6"/>
          <p:cNvSpPr/>
          <p:nvPr/>
        </p:nvSpPr>
        <p:spPr>
          <a:xfrm>
            <a:off x="6272784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3 · Regional merch</a:t>
            </a:r>
          </a:p>
        </p:txBody>
      </p:sp>
      <p:sp>
        <p:nvSpPr>
          <p:cNvPr id="8" name="Chevron 7"/>
          <p:cNvSpPr/>
          <p:nvPr/>
        </p:nvSpPr>
        <p:spPr>
          <a:xfrm>
            <a:off x="9043416" y="4846320"/>
            <a:ext cx="2697480" cy="777240"/>
          </a:xfrm>
          <a:prstGeom prst="chevron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4223C"/>
                </a:solidFill>
              </a:defRPr>
            </a:pPr>
            <a:r>
              <a:t>4 · Exposure dial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F6FC4"/>
                </a:solidFill>
              </a:defRPr>
            </a:pPr>
            <a:r>
              <a:t>RISKS &amp;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4223C"/>
                </a:solidFill>
              </a:defRPr>
            </a:pPr>
            <a:r>
              <a:t>Risks we're carrying, and 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Risks: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Offline results may not transfer online — that's why phase 1 is shadow mode.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Recommenders amplify what they show: popularity feedback loops — exposure metrics watch for this monthly.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Personalisation reach is small today (~3%); growing it depends on retention improving — the two compound.</a:t>
            </a:r>
          </a:p>
          <a:p>
            <a:pPr>
              <a:spcAft>
                <a:spcPts val="1000"/>
              </a:spcAft>
              <a:defRPr sz="1600">
                <a:solidFill>
                  <a:srgbClr val="14223C"/>
                </a:solidFill>
              </a:defRPr>
            </a:pPr>
            <a:r>
              <a:t>• The ask: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An A/B testing slot on the storefront and click/purchase telemetry for the live hit rate.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A product owner for the seller-exposure dial.</a:t>
            </a:r>
          </a:p>
          <a:p>
            <a:pPr lvl="1">
              <a:spcAft>
                <a:spcPts val="1000"/>
              </a:spcAft>
              <a:defRPr sz="1400">
                <a:solidFill>
                  <a:srgbClr val="5A6470"/>
                </a:solidFill>
              </a:defRPr>
            </a:pPr>
            <a:r>
              <a:t>– A decision review after phase 2 with the live numbers on the 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
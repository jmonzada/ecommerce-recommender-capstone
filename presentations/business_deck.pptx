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4223C"/>
                </a:solidFill>
              </a:defRPr>
            </a:pPr>
            <a:r>
              <a:t>Bringing customers back</a:t>
            </a:r>
          </a:p>
          <a:p>
            <a:pPr>
              <a:defRPr sz="2400">
                <a:solidFill>
                  <a:srgbClr val="1F6FC4"/>
                </a:solidFill>
              </a:defRPr>
            </a:pPr>
            <a:r>
              <a:t>A product recommendation engine for the Olist marketplace</a:t>
            </a:r>
          </a:p>
          <a:p>
            <a:pPr>
              <a:defRPr sz="1600">
                <a:solidFill>
                  <a:srgbClr val="5A6470"/>
                </a:solidFill>
              </a:defRPr>
            </a:pPr>
            <a:r>
              <a:t>Daniel Jethro Monzada · AI/ML capstone · July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A6470"/>
                </a:solidFill>
              </a:defRPr>
            </a:pPr>
            <a:r>
              <a:t>Data: Brazilian E-Commerce Public Dataset by Olist (Kaggle, CC BY-NC-SA 4.0).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6FC4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23C"/>
                </a:solidFill>
              </a:defRPr>
            </a:pPr>
            <a:r>
              <a:t>97 of every 100 customers never come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F6FC4"/>
                </a:solidFill>
              </a:defRPr>
            </a:pPr>
            <a:r>
              <a:t>96.9%</a:t>
            </a:r>
          </a:p>
          <a:p>
            <a:pPr algn="ctr">
              <a:defRPr sz="1500">
                <a:solidFill>
                  <a:srgbClr val="5A6470"/>
                </a:solidFill>
              </a:defRPr>
            </a:pPr>
            <a:r>
              <a:t>of customers have placed</a:t>
            </a:r>
            <a:br/>
            <a:r>
              <a:t>exactly one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92024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F6FC4"/>
                </a:solidFill>
              </a:defRPr>
            </a:pPr>
            <a:r>
              <a:t>3.12%</a:t>
            </a:r>
          </a:p>
          <a:p>
            <a:pPr algn="ctr">
              <a:defRPr sz="1500">
                <a:solidFill>
                  <a:srgbClr val="5A6470"/>
                </a:solidFill>
              </a:defRPr>
            </a:pPr>
            <a:r>
              <a:t>repeat-purchase rate</a:t>
            </a:r>
            <a:br/>
            <a:r>
              <a:t>(2,997 of 96,096 customers)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92024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F6FC4"/>
                </a:solidFill>
              </a:defRPr>
            </a:pPr>
            <a:r>
              <a:t>0.02%</a:t>
            </a:r>
          </a:p>
          <a:p>
            <a:pPr algn="ctr">
              <a:defRPr sz="1500">
                <a:solidFill>
                  <a:srgbClr val="5A6470"/>
                </a:solidFill>
              </a:defRPr>
            </a:pPr>
            <a:r>
              <a:t>of recommendation slots reach</a:t>
            </a:r>
            <a:br/>
            <a:r>
              <a:t>small sellers without intervention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4223C"/>
                </a:solidFill>
              </a:defRPr>
            </a:pPr>
            <a:r>
              <a:t>• Customer acquisition spend buys, on average, exactly one order.</a:t>
            </a:r>
          </a:p>
          <a:p>
            <a:pPr>
              <a:spcAft>
                <a:spcPts val="1000"/>
              </a:spcAft>
              <a:defRPr sz="1800">
                <a:solidFill>
                  <a:srgbClr val="14223C"/>
                </a:solidFill>
              </a:defRPr>
            </a:pPr>
            <a:r>
              <a:t>• Olist sells small merchants on exposure. A bestseller-only storefront quietly breaks that promise.</a:t>
            </a:r>
          </a:p>
          <a:p>
            <a:pPr>
              <a:spcAft>
                <a:spcPts val="1000"/>
              </a:spcAft>
              <a:defRPr sz="1800">
                <a:solidFill>
                  <a:srgbClr val="14223C"/>
                </a:solidFill>
              </a:defRPr>
            </a:pPr>
            <a:r>
              <a:t>• Today there is no personalisation: every visitor sees the same popular products.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6FC4"/>
                </a:solidFill>
              </a:defRPr>
            </a:pPr>
            <a: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23C"/>
                </a:solidFill>
              </a:defRPr>
            </a:pPr>
            <a:r>
              <a:t>Small movements in retention are worth real 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92024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F6FC4"/>
                </a:solidFill>
              </a:defRPr>
            </a:pPr>
            <a:r>
              <a:t>960</a:t>
            </a:r>
          </a:p>
          <a:p>
            <a:pPr algn="ctr">
              <a:defRPr sz="1500">
                <a:solidFill>
                  <a:srgbClr val="5A6470"/>
                </a:solidFill>
              </a:defRPr>
            </a:pPr>
            <a:r>
              <a:t>additional returning customers</a:t>
            </a:r>
            <a:br/>
            <a:r>
              <a:t>per +1pp repeat-purchase rate</a:t>
            </a:r>
            <a:br/>
            <a:r>
              <a:t>(arithmetic, not a forecast)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92024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F6FC4"/>
                </a:solidFill>
              </a:defRPr>
            </a:pPr>
            <a:r>
              <a:t>≈ R$130k</a:t>
            </a:r>
          </a:p>
          <a:p>
            <a:pPr algn="ctr">
              <a:defRPr sz="1500">
                <a:solidFill>
                  <a:srgbClr val="5A6470"/>
                </a:solidFill>
              </a:defRPr>
            </a:pPr>
            <a:r>
              <a:t>in orders that +1pp represents,</a:t>
            </a:r>
            <a:br/>
            <a:r>
              <a:t>at the observed R$137</a:t>
            </a:r>
            <a:br/>
            <a:r>
              <a:t>average order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4223C"/>
                </a:solidFill>
              </a:defRPr>
            </a:pPr>
            <a:r>
              <a:t>• Returning customers arrive with history, so they're exactly the ones a recommender can serve well.</a:t>
            </a:r>
          </a:p>
          <a:p>
            <a:pPr>
              <a:spcAft>
                <a:spcPts val="1000"/>
              </a:spcAft>
              <a:defRPr sz="1800">
                <a:solidFill>
                  <a:srgbClr val="14223C"/>
                </a:solidFill>
              </a:defRPr>
            </a:pPr>
            <a:r>
              <a:t>• For the single-purchase majority, the win is smarter first-purchase cross-sell and regional merchandising, not personalisation.</a:t>
            </a:r>
          </a:p>
          <a:p>
            <a:pPr>
              <a:spcAft>
                <a:spcPts val="1000"/>
              </a:spcAft>
              <a:defRPr sz="1800">
                <a:solidFill>
                  <a:srgbClr val="14223C"/>
                </a:solidFill>
              </a:defRPr>
            </a:pPr>
            <a:r>
              <a:t>• For sellers: measurable exposure for rarely-shown products protects the marketplace's supply 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A6470"/>
                </a:solidFill>
              </a:defRPr>
            </a:pPr>
            <a:r>
              <a:t>Scope honesty: personalisation applies to the ~3% with history today; the engine handles everyone, but with different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6FC4"/>
                </a:solidFill>
              </a:defRPr>
            </a:pPr>
            <a: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23C"/>
                </a:solidFill>
              </a:defRPr>
            </a:pPr>
            <a:r>
              <a:t>What the engine does (no math required)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4223C"/>
                </a:solidFill>
              </a:defRPr>
            </a:pPr>
            <a:r>
              <a:t>• Step 1 builds a shortlist: products similar to what you've bought, plus what shoppers like you buy.</a:t>
            </a:r>
          </a:p>
          <a:p>
            <a:pPr>
              <a:spcAft>
                <a:spcPts val="1000"/>
              </a:spcAft>
              <a:defRPr sz="1800">
                <a:solidFill>
                  <a:srgbClr val="14223C"/>
                </a:solidFill>
              </a:defRPr>
            </a:pPr>
            <a:r>
              <a:t>• Step 2 ranks the shortlist: a model scores how likely you are to buy each item.</a:t>
            </a:r>
          </a:p>
          <a:p>
            <a:pPr>
              <a:spcAft>
                <a:spcPts val="1000"/>
              </a:spcAft>
              <a:defRPr sz="1800">
                <a:solidFill>
                  <a:srgbClr val="14223C"/>
                </a:solidFill>
              </a:defRPr>
            </a:pPr>
            <a:r>
              <a:t>• For a brand-new visitor, it falls back gracefully: bestsellers for your region, or overall.</a:t>
            </a:r>
          </a:p>
          <a:p>
            <a:pPr>
              <a:spcAft>
                <a:spcPts val="1000"/>
              </a:spcAft>
              <a:defRPr sz="1800">
                <a:solidFill>
                  <a:srgbClr val="14223C"/>
                </a:solidFill>
              </a:defRPr>
            </a:pPr>
            <a:r>
              <a:t>• Every recommendation can explain itself in one plain sentence: "why you're seeing this".</a:t>
            </a:r>
          </a:p>
          <a:p>
            <a:pPr>
              <a:spcAft>
                <a:spcPts val="1000"/>
              </a:spcAft>
              <a:defRPr sz="1800">
                <a:solidFill>
                  <a:srgbClr val="14223C"/>
                </a:solidFill>
              </a:defRPr>
            </a:pPr>
            <a:r>
              <a:t>• Runs as a small web service in a container, serving exactly the pipeline the evaluation graded.</a:t>
            </a:r>
          </a:p>
        </p:txBody>
      </p:sp>
      <p:sp>
        <p:nvSpPr>
          <p:cNvPr id="5" name="Chevron 4"/>
          <p:cNvSpPr/>
          <p:nvPr/>
        </p:nvSpPr>
        <p:spPr>
          <a:xfrm>
            <a:off x="731520" y="4846320"/>
            <a:ext cx="2697480" cy="777240"/>
          </a:xfrm>
          <a:prstGeom prst="chevron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223C"/>
                </a:solidFill>
              </a:defRPr>
            </a:pPr>
            <a:r>
              <a:t>Your history</a:t>
            </a:r>
          </a:p>
        </p:txBody>
      </p:sp>
      <p:sp>
        <p:nvSpPr>
          <p:cNvPr id="6" name="Chevron 5"/>
          <p:cNvSpPr/>
          <p:nvPr/>
        </p:nvSpPr>
        <p:spPr>
          <a:xfrm>
            <a:off x="3502152" y="4846320"/>
            <a:ext cx="2697480" cy="777240"/>
          </a:xfrm>
          <a:prstGeom prst="chevron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223C"/>
                </a:solidFill>
              </a:defRPr>
            </a:pPr>
            <a:r>
              <a:t>Shortlist (hundreds)</a:t>
            </a:r>
          </a:p>
        </p:txBody>
      </p:sp>
      <p:sp>
        <p:nvSpPr>
          <p:cNvPr id="7" name="Chevron 6"/>
          <p:cNvSpPr/>
          <p:nvPr/>
        </p:nvSpPr>
        <p:spPr>
          <a:xfrm>
            <a:off x="6272784" y="4846320"/>
            <a:ext cx="2697480" cy="777240"/>
          </a:xfrm>
          <a:prstGeom prst="chevron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223C"/>
                </a:solidFill>
              </a:defRPr>
            </a:pPr>
            <a:r>
              <a:t>Ranked top-10</a:t>
            </a:r>
          </a:p>
        </p:txBody>
      </p:sp>
      <p:sp>
        <p:nvSpPr>
          <p:cNvPr id="8" name="Chevron 7"/>
          <p:cNvSpPr/>
          <p:nvPr/>
        </p:nvSpPr>
        <p:spPr>
          <a:xfrm>
            <a:off x="9043416" y="4846320"/>
            <a:ext cx="2697480" cy="777240"/>
          </a:xfrm>
          <a:prstGeom prst="chevron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223C"/>
                </a:solidFill>
              </a:defRPr>
            </a:pPr>
            <a:r>
              <a:t>Plain-language why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6FC4"/>
                </a:solidFill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23C"/>
                </a:solidFill>
              </a:defRPr>
            </a:pPr>
            <a:r>
              <a:t>What the evaluation says,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37490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F6FC4"/>
                </a:solidFill>
              </a:defRPr>
            </a:pPr>
            <a:r>
              <a:t>1 in 5</a:t>
            </a:r>
          </a:p>
          <a:p>
            <a:pPr algn="ctr">
              <a:defRPr sz="1500">
                <a:solidFill>
                  <a:srgbClr val="5A6470"/>
                </a:solidFill>
              </a:defRPr>
            </a:pPr>
            <a:r>
              <a:t>returning buyers get their next</a:t>
            </a:r>
            <a:br/>
            <a:r>
              <a:t>purchase in the top-10 shortlist,</a:t>
            </a:r>
            <a:br/>
            <a:r>
              <a:t>vs 1 in 32 with bestsellers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920240"/>
            <a:ext cx="3657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F6FC4"/>
                </a:solidFill>
              </a:defRPr>
            </a:pPr>
            <a:r>
              <a:t>+20%</a:t>
            </a:r>
          </a:p>
          <a:p>
            <a:pPr algn="ctr">
              <a:defRPr sz="1500">
                <a:solidFill>
                  <a:srgbClr val="5A6470"/>
                </a:solidFill>
              </a:defRPr>
            </a:pPr>
            <a:r>
              <a:t>full pipeline over the shortlist</a:t>
            </a:r>
            <a:br/>
            <a:r>
              <a:t>alone, on a strictly past-only</a:t>
            </a:r>
            <a:br/>
            <a:r>
              <a:t>holdout (statistically real)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920240"/>
            <a:ext cx="3657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F6FC4"/>
                </a:solidFill>
              </a:defRPr>
            </a:pPr>
            <a:r>
              <a:t>37%</a:t>
            </a:r>
          </a:p>
          <a:p>
            <a:pPr algn="ctr">
              <a:defRPr sz="1500">
                <a:solidFill>
                  <a:srgbClr val="5A6470"/>
                </a:solidFill>
              </a:defRPr>
            </a:pPr>
            <a:r>
              <a:t>of the catalogue reachable in</a:t>
            </a:r>
            <a:br/>
            <a:r>
              <a:t>returning buyers' shortlists;</a:t>
            </a:r>
            <a:br/>
            <a:r>
              <a:t>a bestseller feed shows 10 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4223C"/>
                </a:solidFill>
              </a:defRPr>
            </a:pPr>
            <a:r>
              <a:t>• Two test beds, labelled honestly: shortlist quality is graded on returning buyers' held-out orders; the deployed pipeline on a strictly past-only three-month holdout.</a:t>
            </a:r>
          </a:p>
          <a:p>
            <a:pPr>
              <a:spcAft>
                <a:spcPts val="1000"/>
              </a:spcAft>
              <a:defRPr sz="1800">
                <a:solidFill>
                  <a:srgbClr val="14223C"/>
                </a:solidFill>
              </a:defRPr>
            </a:pPr>
            <a:r>
              <a:t>• All numbers are offline estimates. The honest next step is a live A/B test, and the rollout plan is built around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A6470"/>
                </a:solidFill>
              </a:defRPr>
            </a:pPr>
            <a:r>
              <a:t>For the technical appendix: shortlist hit rate 0.203 vs 0.031 popularity (leave-last-order-out, 1,949 repeat buyers); end-to-end +0.0024 [+0.0008, +0.0041] Hit@10 vs shortlist-only; shortlist coverage 0.371; live top-10 coverage 0.071 to 0.102 with the seller dial.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6FC4"/>
                </a:solidFill>
              </a:defRPr>
            </a:pPr>
            <a:r>
              <a:t>FAIRNESS &amp; BRAND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23C"/>
                </a:solidFill>
              </a:defRPr>
            </a:pPr>
            <a:r>
              <a:t>We audited the bias before anyone asked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766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4223C"/>
                </a:solidFill>
              </a:defRPr>
            </a:pPr>
            <a:r>
              <a:t>• Recommendation quality is not uniform: Northeast customers currently get the best results. We found it, traced it to the shortlist stage, and monitor it.</a:t>
            </a:r>
          </a:p>
          <a:p>
            <a:pPr>
              <a:spcAft>
                <a:spcPts val="1000"/>
              </a:spcAft>
              <a:defRPr sz="1600">
                <a:solidFill>
                  <a:srgbClr val="14223C"/>
                </a:solidFill>
              </a:defRPr>
            </a:pPr>
            <a:r>
              <a:t>• Without intervention, small sellers (5.9% of the catalogue) receive 0.02% of top-10 slots, a direct risk to the exposure promise.</a:t>
            </a:r>
          </a:p>
          <a:p>
            <a:pPr>
              <a:spcAft>
                <a:spcPts val="1000"/>
              </a:spcAft>
              <a:defRPr sz="1600">
                <a:solidFill>
                  <a:srgbClr val="14223C"/>
                </a:solidFill>
              </a:defRPr>
            </a:pPr>
            <a:r>
              <a:t>• We built a dial, and measured both sides of it:</a:t>
            </a:r>
          </a:p>
          <a:p>
            <a:pPr lvl="1">
              <a:spcAft>
                <a:spcPts val="1000"/>
              </a:spcAft>
              <a:defRPr sz="1400">
                <a:solidFill>
                  <a:srgbClr val="5A6470"/>
                </a:solidFill>
              </a:defRPr>
            </a:pPr>
            <a:r>
              <a:t>◦ Keep all 10 slots for relevance: best hit rate, near-zero small-seller exposure</a:t>
            </a:r>
          </a:p>
          <a:p>
            <a:pPr lvl="1">
              <a:spcAft>
                <a:spcPts val="1000"/>
              </a:spcAft>
              <a:defRPr sz="1400">
                <a:solidFill>
                  <a:srgbClr val="5A6470"/>
                </a:solidFill>
              </a:defRPr>
            </a:pPr>
            <a:r>
              <a:t>◦ Reserve 3 of 10 slots for under-exposed products: small sellers ×4.3, rarely-shown products ×2.1, at ~15% hit-rate cost</a:t>
            </a:r>
          </a:p>
          <a:p>
            <a:pPr lvl="1">
              <a:spcAft>
                <a:spcPts val="1000"/>
              </a:spcAft>
              <a:defRPr sz="1400">
                <a:solidFill>
                  <a:srgbClr val="5A6470"/>
                </a:solidFill>
              </a:defRPr>
            </a:pPr>
            <a:r>
              <a:t>◦ Southern customers pay the most for that dial, quantified, so the trade-off is a decision, not an accident</a:t>
            </a:r>
          </a:p>
        </p:txBody>
      </p:sp>
      <p:pic>
        <p:nvPicPr>
          <p:cNvPr id="5" name="Picture 4" descr="04_loren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737360"/>
            <a:ext cx="4023360" cy="3352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A6470"/>
                </a:solidFill>
              </a:defRPr>
            </a:pPr>
            <a:r>
              <a:t>Where to set the dial is a business decision. Our recommendation: validate on newer data than we tuned on, then start conservative (1 reserved slot) and measure.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6FC4"/>
                </a:solidFill>
              </a:defRPr>
            </a:pPr>
            <a:r>
              <a:t>TRUST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23C"/>
                </a:solidFill>
              </a:defRPr>
            </a:pPr>
            <a:r>
              <a:t>Built for trust from day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4223C"/>
                </a:solidFill>
              </a:defRPr>
            </a:pPr>
            <a:r>
              <a:t>• Explainable: every score decomposes into signals; customers see a plain-language reason.</a:t>
            </a:r>
          </a:p>
          <a:p>
            <a:pPr>
              <a:spcAft>
                <a:spcPts val="1000"/>
              </a:spcAft>
              <a:defRPr sz="1800">
                <a:solidFill>
                  <a:srgbClr val="14223C"/>
                </a:solidFill>
              </a:defRPr>
            </a:pPr>
            <a:r>
              <a:t>• No demographics used anywhere. Geography is audited precisely because it proxies income.</a:t>
            </a:r>
          </a:p>
          <a:p>
            <a:pPr>
              <a:spcAft>
                <a:spcPts val="1000"/>
              </a:spcAft>
              <a:defRPr sz="1800">
                <a:solidFill>
                  <a:srgbClr val="14223C"/>
                </a:solidFill>
              </a:defRPr>
            </a:pPr>
            <a:r>
              <a:t>• Privacy: no customer identifiers leave our systems, including to the AI vendor that writes explanations.</a:t>
            </a:r>
          </a:p>
          <a:p>
            <a:pPr>
              <a:spcAft>
                <a:spcPts val="1000"/>
              </a:spcAft>
              <a:defRPr sz="1800">
                <a:solidFill>
                  <a:srgbClr val="14223C"/>
                </a:solidFill>
              </a:defRPr>
            </a:pPr>
            <a:r>
              <a:t>• Monitored in production: customer-mix drift, score drift, live hit rate, and monthly seller-exposure checks.</a:t>
            </a:r>
          </a:p>
          <a:p>
            <a:pPr>
              <a:spcAft>
                <a:spcPts val="1000"/>
              </a:spcAft>
              <a:defRPr sz="1800">
                <a:solidFill>
                  <a:srgbClr val="14223C"/>
                </a:solidFill>
              </a:defRPr>
            </a:pPr>
            <a:r>
              <a:t>• Reversible: every release is a tagged snapshot; rollback is redeploying the previous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6FC4"/>
                </a:solidFill>
              </a:defRPr>
            </a:pPr>
            <a: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23C"/>
                </a:solidFill>
              </a:defRPr>
            </a:pPr>
            <a:r>
              <a:t>Rollout: prove it live before trusting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4223C"/>
                </a:solidFill>
              </a:defRPr>
            </a:pPr>
            <a:r>
              <a:t>• Phase 1, shadow mode (2 to 4 weeks): serve recommendations silently and compare against actual purchases.</a:t>
            </a:r>
          </a:p>
          <a:p>
            <a:pPr>
              <a:spcAft>
                <a:spcPts val="1000"/>
              </a:spcAft>
              <a:defRPr sz="1800">
                <a:solidFill>
                  <a:srgbClr val="14223C"/>
                </a:solidFill>
              </a:defRPr>
            </a:pPr>
            <a:r>
              <a:t>• Phase 2, A/B test on returning buyers: recommendation rail vs bestseller rail; primary metric = repeat-purchase rate.</a:t>
            </a:r>
          </a:p>
          <a:p>
            <a:pPr>
              <a:spcAft>
                <a:spcPts val="1000"/>
              </a:spcAft>
              <a:defRPr sz="1800">
                <a:solidFill>
                  <a:srgbClr val="14223C"/>
                </a:solidFill>
              </a:defRPr>
            </a:pPr>
            <a:r>
              <a:t>• Phase 3, regional merchandising for new visitors, measured on first-purchase cross-sell.</a:t>
            </a:r>
          </a:p>
          <a:p>
            <a:pPr>
              <a:spcAft>
                <a:spcPts val="1000"/>
              </a:spcAft>
              <a:defRPr sz="1800">
                <a:solidFill>
                  <a:srgbClr val="14223C"/>
                </a:solidFill>
              </a:defRPr>
            </a:pPr>
            <a:r>
              <a:t>• Phase 4, seller-exposure dial, set with the merchant team after validating on newer data.</a:t>
            </a:r>
          </a:p>
          <a:p>
            <a:pPr>
              <a:spcAft>
                <a:spcPts val="1000"/>
              </a:spcAft>
              <a:defRPr sz="1800">
                <a:solidFill>
                  <a:srgbClr val="14223C"/>
                </a:solidFill>
              </a:defRPr>
            </a:pPr>
            <a:r>
              <a:t>• Each phase has a kill switch; the offline numbers set expectations, the live numbers decide.</a:t>
            </a:r>
          </a:p>
        </p:txBody>
      </p:sp>
      <p:sp>
        <p:nvSpPr>
          <p:cNvPr id="5" name="Chevron 4"/>
          <p:cNvSpPr/>
          <p:nvPr/>
        </p:nvSpPr>
        <p:spPr>
          <a:xfrm>
            <a:off x="731520" y="4846320"/>
            <a:ext cx="2697480" cy="777240"/>
          </a:xfrm>
          <a:prstGeom prst="chevron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223C"/>
                </a:solidFill>
              </a:defRPr>
            </a:pPr>
            <a:r>
              <a:t>1 · Shadow</a:t>
            </a:r>
          </a:p>
        </p:txBody>
      </p:sp>
      <p:sp>
        <p:nvSpPr>
          <p:cNvPr id="6" name="Chevron 5"/>
          <p:cNvSpPr/>
          <p:nvPr/>
        </p:nvSpPr>
        <p:spPr>
          <a:xfrm>
            <a:off x="3502152" y="4846320"/>
            <a:ext cx="2697480" cy="777240"/>
          </a:xfrm>
          <a:prstGeom prst="chevron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223C"/>
                </a:solidFill>
              </a:defRPr>
            </a:pPr>
            <a:r>
              <a:t>2 · A/B returning buyers</a:t>
            </a:r>
          </a:p>
        </p:txBody>
      </p:sp>
      <p:sp>
        <p:nvSpPr>
          <p:cNvPr id="7" name="Chevron 6"/>
          <p:cNvSpPr/>
          <p:nvPr/>
        </p:nvSpPr>
        <p:spPr>
          <a:xfrm>
            <a:off x="6272784" y="4846320"/>
            <a:ext cx="2697480" cy="777240"/>
          </a:xfrm>
          <a:prstGeom prst="chevron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223C"/>
                </a:solidFill>
              </a:defRPr>
            </a:pPr>
            <a:r>
              <a:t>3 · Regional merch</a:t>
            </a:r>
          </a:p>
        </p:txBody>
      </p:sp>
      <p:sp>
        <p:nvSpPr>
          <p:cNvPr id="8" name="Chevron 7"/>
          <p:cNvSpPr/>
          <p:nvPr/>
        </p:nvSpPr>
        <p:spPr>
          <a:xfrm>
            <a:off x="9043416" y="4846320"/>
            <a:ext cx="2697480" cy="777240"/>
          </a:xfrm>
          <a:prstGeom prst="chevron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223C"/>
                </a:solidFill>
              </a:defRPr>
            </a:pPr>
            <a:r>
              <a:t>4 · Exposure dial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6FC4"/>
                </a:solidFill>
              </a:defRPr>
            </a:pPr>
            <a:r>
              <a:t>RISKS &amp; 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23C"/>
                </a:solidFill>
              </a:defRPr>
            </a:pPr>
            <a:r>
              <a:t>Risks we're carrying, and what we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4223C"/>
                </a:solidFill>
              </a:defRPr>
            </a:pPr>
            <a:r>
              <a:t>• Risks:</a:t>
            </a:r>
          </a:p>
          <a:p>
            <a:pPr lvl="1">
              <a:spcAft>
                <a:spcPts val="1000"/>
              </a:spcAft>
              <a:defRPr sz="1400">
                <a:solidFill>
                  <a:srgbClr val="5A6470"/>
                </a:solidFill>
              </a:defRPr>
            </a:pPr>
            <a:r>
              <a:t>◦ Offline results may not transfer online, which is why phase 1 is shadow mode.</a:t>
            </a:r>
          </a:p>
          <a:p>
            <a:pPr lvl="1">
              <a:spcAft>
                <a:spcPts val="1000"/>
              </a:spcAft>
              <a:defRPr sz="1400">
                <a:solidFill>
                  <a:srgbClr val="5A6470"/>
                </a:solidFill>
              </a:defRPr>
            </a:pPr>
            <a:r>
              <a:t>◦ Recommenders amplify what they show, so popularity feedback loops are a risk; exposure metrics watch for this monthly.</a:t>
            </a:r>
          </a:p>
          <a:p>
            <a:pPr lvl="1">
              <a:spcAft>
                <a:spcPts val="1000"/>
              </a:spcAft>
              <a:defRPr sz="1400">
                <a:solidFill>
                  <a:srgbClr val="5A6470"/>
                </a:solidFill>
              </a:defRPr>
            </a:pPr>
            <a:r>
              <a:t>◦ Personalisation reach is small today (~3%), and growing it depends on retention improving; the two compound.</a:t>
            </a:r>
          </a:p>
          <a:p>
            <a:pPr>
              <a:spcAft>
                <a:spcPts val="1000"/>
              </a:spcAft>
              <a:defRPr sz="1600">
                <a:solidFill>
                  <a:srgbClr val="14223C"/>
                </a:solidFill>
              </a:defRPr>
            </a:pPr>
            <a:r>
              <a:t>• The ask:</a:t>
            </a:r>
          </a:p>
          <a:p>
            <a:pPr lvl="1">
              <a:spcAft>
                <a:spcPts val="1000"/>
              </a:spcAft>
              <a:defRPr sz="1400">
                <a:solidFill>
                  <a:srgbClr val="5A6470"/>
                </a:solidFill>
              </a:defRPr>
            </a:pPr>
            <a:r>
              <a:t>◦ An A/B testing slot on the storefront and click/purchase telemetry for the live hit rate.</a:t>
            </a:r>
          </a:p>
          <a:p>
            <a:pPr lvl="1">
              <a:spcAft>
                <a:spcPts val="1000"/>
              </a:spcAft>
              <a:defRPr sz="1400">
                <a:solidFill>
                  <a:srgbClr val="5A6470"/>
                </a:solidFill>
              </a:defRPr>
            </a:pPr>
            <a:r>
              <a:t>◦ A product owner for the seller-exposure dial.</a:t>
            </a:r>
          </a:p>
          <a:p>
            <a:pPr lvl="1">
              <a:spcAft>
                <a:spcPts val="1000"/>
              </a:spcAft>
              <a:defRPr sz="1400">
                <a:solidFill>
                  <a:srgbClr val="5A6470"/>
                </a:solidFill>
              </a:defRPr>
            </a:pPr>
            <a:r>
              <a:t>◦ A decision review after phase 2 with the live numbers on the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
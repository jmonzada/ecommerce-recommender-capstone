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14223C"/>
                </a:solidFill>
              </a:rPr>
              <a:t>Two-Stage Product Recommendation for the Olist Marketplace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1F6FC4"/>
                </a:solidFill>
              </a:rPr>
              <a:t>Capstone: Post Graduate Diploma in AI &amp; Machine Learning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A6470"/>
                </a:solidFill>
              </a:rPr>
              <a:t>Daniel Jethro Monzada · July 2026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A6470"/>
                </a:solidFill>
              </a:rPr>
              <a:t>~100k real Brazilian eCommerce orders (2016-2018) · candidate generation + supervised re-ranking · fairness-audited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A6470"/>
                </a:solidFill>
              </a:rPr>
              <a:t>Repo: </a:t>
            </a:r>
            <a:r>
              <a:rPr sz="1600">
                <a:solidFill>
                  <a:srgbClr val="5A6470"/>
                </a:solidFill>
                <a:latin typeface="Consolas"/>
              </a:rPr>
              <a:t>github.com/jmonzada/ecommerce-recommender-capstone</a:t>
            </a:r>
          </a:p>
          <a:p>
            <a:pPr>
              <a:spcAft>
                <a:spcPts val="1000"/>
              </a:spcAft>
            </a:pPr>
            <a:r>
              <a:rPr sz="1200" i="1">
                <a:solidFill>
                  <a:srgbClr val="5A6470"/>
                </a:solidFill>
              </a:rPr>
              <a:t>Data: Brazilian E-Commerce Public Dataset by Olist (Kaggle, CC BY-NC-SA 4.0)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223C"/>
                </a:solidFill>
              </a:rPr>
              <a:t>One number, and the shape of the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27940"/>
          </a:xfrm>
          <a:prstGeom prst="rect">
            <a:avLst/>
          </a:prstGeom>
          <a:solidFill>
            <a:srgbClr val="1F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b="1" sz="1300">
                <a:solidFill>
                  <a:srgbClr val="14223C"/>
                </a:solidFill>
              </a:rPr>
              <a:t>96.9% of Olist's 96,096 customers have placed exactly one order.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1F6FC4"/>
                </a:solidFill>
              </a:rPr>
              <a:t>•  </a:t>
            </a:r>
            <a:r>
              <a:rPr sz="1300">
                <a:solidFill>
                  <a:srgbClr val="14223C"/>
                </a:solidFill>
              </a:rPr>
              <a:t>Business question: can a recommender pull customers into a </a:t>
            </a:r>
            <a:r>
              <a:rPr b="1" sz="1300">
                <a:solidFill>
                  <a:srgbClr val="14223C"/>
                </a:solidFill>
              </a:rPr>
              <a:t>second purchase</a:t>
            </a:r>
            <a:r>
              <a:rPr sz="1300">
                <a:solidFill>
                  <a:srgbClr val="14223C"/>
                </a:solidFill>
              </a:rPr>
              <a:t>, and widen exposure beyond bestsellers?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1F6FC4"/>
                </a:solidFill>
              </a:rPr>
              <a:t>•  </a:t>
            </a:r>
            <a:r>
              <a:rPr sz="1300">
                <a:solidFill>
                  <a:srgbClr val="14223C"/>
                </a:solidFill>
              </a:rPr>
              <a:t>Seller angle: Olist's pitch to small merchants is </a:t>
            </a:r>
            <a:r>
              <a:rPr i="1" sz="1300">
                <a:solidFill>
                  <a:srgbClr val="14223C"/>
                </a:solidFill>
              </a:rPr>
              <a:t>exposure</a:t>
            </a:r>
            <a:r>
              <a:rPr sz="1300">
                <a:solidFill>
                  <a:srgbClr val="14223C"/>
                </a:solidFill>
              </a:rPr>
              <a:t>, and a popularity-only feed quietly breaks it.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b="1" sz="1300">
                <a:solidFill>
                  <a:srgbClr val="14223C"/>
                </a:solidFill>
              </a:rPr>
              <a:t>Architecture: two stages, like production systems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14223C"/>
                </a:solidFill>
              </a:rPr>
              <a:t>1. </a:t>
            </a:r>
            <a:r>
              <a:rPr b="1" sz="1300">
                <a:solidFill>
                  <a:srgbClr val="14223C"/>
                </a:solidFill>
              </a:rPr>
              <a:t>Candidate generation</a:t>
            </a:r>
            <a:r>
              <a:rPr sz="1300">
                <a:solidFill>
                  <a:srgbClr val="14223C"/>
                </a:solidFill>
              </a:rPr>
              <a:t>: item-item CF, content similarity, truncated SVD, popularity, hybrid blend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14223C"/>
                </a:solidFill>
              </a:rPr>
              <a:t>2. </a:t>
            </a:r>
            <a:r>
              <a:rPr b="1" sz="1300">
                <a:solidFill>
                  <a:srgbClr val="14223C"/>
                </a:solidFill>
              </a:rPr>
              <a:t>Supervised ranker</a:t>
            </a:r>
            <a:r>
              <a:rPr sz="1300">
                <a:solidFill>
                  <a:srgbClr val="14223C"/>
                </a:solidFill>
              </a:rPr>
              <a:t>: LR / RF / XGBoost scoring "will this (customer, product) pair convert?"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14223C"/>
                </a:solidFill>
              </a:rPr>
              <a:t>The ranker is feature-based, which is where SHAP, PDP/ICE and the fairness audit genuinely work.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i="1">
                <a:solidFill>
                  <a:srgbClr val="5A6470"/>
                </a:solidFill>
              </a:rPr>
              <a:t>Where it lands: on a temporally clean holdout the full pipeline beats shortlist-only by +20% (CI excludes zero); see slide 7.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223C"/>
                </a:solidFill>
              </a:rPr>
              <a:t>Evaluation protocol (the load-bearing part)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27940"/>
          </a:xfrm>
          <a:prstGeom prst="rect">
            <a:avLst/>
          </a:prstGeom>
          <a:solidFill>
            <a:srgbClr val="1F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_monthly_order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417320"/>
            <a:ext cx="4297680" cy="1790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325880"/>
            <a:ext cx="6720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F6FC4"/>
                </a:solidFill>
              </a:rPr>
              <a:t>•  </a:t>
            </a:r>
            <a:r>
              <a:rPr b="1" sz="1400">
                <a:solidFill>
                  <a:srgbClr val="14223C"/>
                </a:solidFill>
              </a:rPr>
              <a:t>Three temporal windows</a:t>
            </a:r>
            <a:r>
              <a:rPr sz="1400">
                <a:solidFill>
                  <a:srgbClr val="14223C"/>
                </a:solidFill>
              </a:rPr>
              <a:t> (</a:t>
            </a:r>
            <a:r>
              <a:rPr sz="1400">
                <a:solidFill>
                  <a:srgbClr val="14223C"/>
                </a:solidFill>
                <a:latin typeface="Consolas"/>
              </a:rPr>
              <a:t>configs/windows.yaml</a:t>
            </a:r>
            <a:r>
              <a:rPr sz="1400">
                <a:solidFill>
                  <a:srgbClr val="14223C"/>
                </a:solidFill>
              </a:rPr>
              <a:t>): features 2017-01 to 2018-02 · labels 2018-03 to 2018-05 · holdout 2018-06 to 2018-08 (post-Aug tail collapses, dropped)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F6FC4"/>
                </a:solidFill>
              </a:rPr>
              <a:t>•  </a:t>
            </a:r>
            <a:r>
              <a:rPr b="1" sz="1400">
                <a:solidFill>
                  <a:srgbClr val="14223C"/>
                </a:solidFill>
              </a:rPr>
              <a:t>Every aggregate</a:t>
            </a:r>
            <a:r>
              <a:rPr sz="1400">
                <a:solidFill>
                  <a:srgbClr val="14223C"/>
                </a:solidFill>
              </a:rPr>
              <a:t> (popularity, similarities, SVD factors, RFM…) computed on the feature window only; audit cells assert max timestamps, including review </a:t>
            </a:r>
            <a:r>
              <a:rPr i="1" sz="1400">
                <a:solidFill>
                  <a:srgbClr val="14223C"/>
                </a:solidFill>
              </a:rPr>
              <a:t>creation</a:t>
            </a:r>
            <a:r>
              <a:rPr sz="1400">
                <a:solidFill>
                  <a:srgbClr val="14223C"/>
                </a:solidFill>
              </a:rPr>
              <a:t> dates (caught 6.7% leakage)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F6FC4"/>
                </a:solidFill>
              </a:rPr>
              <a:t>•  </a:t>
            </a:r>
            <a:r>
              <a:rPr sz="1400">
                <a:solidFill>
                  <a:srgbClr val="14223C"/>
                </a:solidFill>
              </a:rPr>
              <a:t>Candidate gen: </a:t>
            </a:r>
            <a:r>
              <a:rPr b="1" sz="1400">
                <a:solidFill>
                  <a:srgbClr val="14223C"/>
                </a:solidFill>
              </a:rPr>
              <a:t>leave-last-order-out</a:t>
            </a:r>
            <a:r>
              <a:rPr sz="1400">
                <a:solidFill>
                  <a:srgbClr val="14223C"/>
                </a:solidFill>
              </a:rPr>
              <a:t> on 2,789 repeat buyers (840 tuning / 1,949 evaluated), bootstrap CIs, K = 10/50/100 + MRR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F6FC4"/>
                </a:solidFill>
              </a:rPr>
              <a:t>•  </a:t>
            </a:r>
            <a:r>
              <a:rPr sz="1400">
                <a:solidFill>
                  <a:srgbClr val="14223C"/>
                </a:solidFill>
              </a:rPr>
              <a:t>Ranker: </a:t>
            </a:r>
            <a:r>
              <a:rPr b="1" sz="1400">
                <a:solidFill>
                  <a:srgbClr val="14223C"/>
                </a:solidFill>
              </a:rPr>
              <a:t>GroupKFold by customer</a:t>
            </a:r>
            <a:r>
              <a:rPr sz="1400">
                <a:solidFill>
                  <a:srgbClr val="14223C"/>
                </a:solidFill>
              </a:rPr>
              <a:t>; negatives 1:4, half hard (from candidate lists), half random; random-only negatives make the task popularity-easy and mismatch serving (the Step 3 random-negative screen already sat at AUC ≈ 0.81 with weaker features)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223C"/>
                </a:solidFill>
              </a:rPr>
              <a:t>EDA that shaped the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27940"/>
          </a:xfrm>
          <a:prstGeom prst="rect">
            <a:avLst/>
          </a:prstGeom>
          <a:solidFill>
            <a:srgbClr val="1F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_delivery_vs_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417320"/>
            <a:ext cx="4297680" cy="24558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325880"/>
            <a:ext cx="6720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F6FC4"/>
                </a:solidFill>
              </a:rPr>
              <a:t>•  </a:t>
            </a:r>
            <a:r>
              <a:rPr sz="1400">
                <a:solidFill>
                  <a:srgbClr val="14223C"/>
                </a:solidFill>
              </a:rPr>
              <a:t>Late deliveries (8%) average </a:t>
            </a:r>
            <a:r>
              <a:rPr b="1" sz="1400">
                <a:solidFill>
                  <a:srgbClr val="14223C"/>
                </a:solidFill>
              </a:rPr>
              <a:t>2.57 stars vs 4.29</a:t>
            </a:r>
            <a:r>
              <a:rPr sz="1400">
                <a:solidFill>
                  <a:srgbClr val="14223C"/>
                </a:solidFill>
              </a:rPr>
              <a:t> on time, which is why customer-to-seller </a:t>
            </a:r>
            <a:r>
              <a:rPr b="1" sz="1400">
                <a:solidFill>
                  <a:srgbClr val="14223C"/>
                </a:solidFill>
              </a:rPr>
              <a:t>haversine distance</a:t>
            </a:r>
            <a:r>
              <a:rPr sz="1400">
                <a:solidFill>
                  <a:srgbClr val="14223C"/>
                </a:solidFill>
              </a:rPr>
              <a:t> became a pair feature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F6FC4"/>
                </a:solidFill>
              </a:rPr>
              <a:t>•  </a:t>
            </a:r>
            <a:r>
              <a:rPr sz="1400">
                <a:solidFill>
                  <a:srgbClr val="14223C"/>
                </a:solidFill>
              </a:rPr>
              <a:t>Only </a:t>
            </a:r>
            <a:r>
              <a:rPr b="1" sz="1400">
                <a:solidFill>
                  <a:srgbClr val="14223C"/>
                </a:solidFill>
              </a:rPr>
              <a:t>2.09%</a:t>
            </a:r>
            <a:r>
              <a:rPr sz="1400">
                <a:solidFill>
                  <a:srgbClr val="14223C"/>
                </a:solidFill>
              </a:rPr>
              <a:t> of label-window pairs have any feature-window history, so cold-start routing is core scope, not an afterthought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F6FC4"/>
                </a:solidFill>
              </a:rPr>
              <a:t>•  </a:t>
            </a:r>
            <a:r>
              <a:rPr sz="1400">
                <a:solidFill>
                  <a:srgbClr val="14223C"/>
                </a:solidFill>
              </a:rPr>
              <a:t>Prices heavy-tailed (median R$75, p99 ≈ R$890), so price features are winsorized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F6FC4"/>
                </a:solidFill>
              </a:rPr>
              <a:t>•  </a:t>
            </a:r>
            <a:r>
              <a:rPr sz="1400">
                <a:solidFill>
                  <a:srgbClr val="14223C"/>
                </a:solidFill>
              </a:rPr>
              <a:t>Southeast = 68.6% of customers, North = 1.9%, which sets the minimum-group rules for the fairness audit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223C"/>
                </a:solidFill>
              </a:rPr>
              <a:t>Stage 1: candidate generation (repeat buyers, leave-last-order-out)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27940"/>
          </a:xfrm>
          <a:prstGeom prst="rect">
            <a:avLst/>
          </a:prstGeom>
          <a:solidFill>
            <a:srgbClr val="1F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55680" cy="18653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310896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Model</a:t>
                      </a:r>
                    </a:p>
                  </a:txBody>
                  <a:tcPr marL="73152" marR="45720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Hit@10</a:t>
                      </a:r>
                    </a:p>
                  </a:txBody>
                  <a:tcPr marL="73152" marR="45720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95% CI</a:t>
                      </a:r>
                    </a:p>
                  </a:txBody>
                  <a:tcPr marL="73152" marR="45720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MRR</a:t>
                      </a:r>
                    </a:p>
                  </a:txBody>
                  <a:tcPr marL="73152" marR="45720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Coverage</a:t>
                      </a:r>
                    </a:p>
                  </a:txBody>
                  <a:tcPr marL="73152" marR="45720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Long-tail</a:t>
                      </a:r>
                    </a:p>
                  </a:txBody>
                  <a:tcPr marL="73152" marR="45720" marT="18288" marB="18288" anchor="ctr"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Popularity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0.031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[0.023, 0.038]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0.013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0.0003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0.00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Item-item CF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0.055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[0.045, 0.065]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0.037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0.042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0.83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Content-based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0.171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[0.154, 0.187]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0.135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0.377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0.79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SVD (k=256)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0.054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[0.045, 0.065]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0.046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0.019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0.03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Hybrid (w=0.25)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0.203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[0.184, 0.221]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0.138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0.371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0.76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35584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F6FC4"/>
                </a:solidFill>
              </a:rPr>
              <a:t>•  </a:t>
            </a:r>
            <a:r>
              <a:rPr sz="1400">
                <a:solidFill>
                  <a:srgbClr val="14223C"/>
                </a:solidFill>
              </a:rPr>
              <a:t>Paired per-user difference, hybrid minus content: </a:t>
            </a:r>
            <a:r>
              <a:rPr b="1" sz="1400">
                <a:solidFill>
                  <a:srgbClr val="14223C"/>
                </a:solidFill>
              </a:rPr>
              <a:t>+0.032 [+0.022, +0.042]</a:t>
            </a:r>
            <a:r>
              <a:rPr sz="1400">
                <a:solidFill>
                  <a:srgbClr val="14223C"/>
                </a:solidFill>
              </a:rPr>
              <a:t>, a real winner, not noise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F6FC4"/>
                </a:solidFill>
              </a:rPr>
              <a:t>•  </a:t>
            </a:r>
            <a:r>
              <a:rPr sz="1400">
                <a:solidFill>
                  <a:srgbClr val="14223C"/>
                </a:solidFill>
              </a:rPr>
              <a:t>Honesty note: </a:t>
            </a:r>
            <a:r>
              <a:rPr b="1" sz="1400">
                <a:solidFill>
                  <a:srgbClr val="14223C"/>
                </a:solidFill>
              </a:rPr>
              <a:t>62-69% of hits are repurchases</a:t>
            </a:r>
            <a:r>
              <a:rPr sz="1400">
                <a:solidFill>
                  <a:srgbClr val="14223C"/>
                </a:solidFill>
              </a:rPr>
              <a:t>; CF is signal-starved (co-purchase matrix has 8,710 pairs)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F6FC4"/>
                </a:solidFill>
              </a:rPr>
              <a:t>•  </a:t>
            </a:r>
            <a:r>
              <a:rPr sz="1400">
                <a:solidFill>
                  <a:srgbClr val="14223C"/>
                </a:solidFill>
              </a:rPr>
              <a:t>Popularity's coverage is 10 products. That's the baseline the marketplace ships without ML.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F6FC4"/>
                </a:solidFill>
              </a:rPr>
              <a:t>•  </a:t>
            </a:r>
            <a:r>
              <a:rPr sz="1400">
                <a:solidFill>
                  <a:srgbClr val="14223C"/>
                </a:solidFill>
              </a:rPr>
              <a:t>Caveat: LOO trades temporal strictness for coverage; decision-grade numbers are the end-to-end table (slide 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223C"/>
                </a:solidFill>
              </a:rPr>
              <a:t>Stage 2: conversion rankers (sampled negatives give relative numbers)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27940"/>
          </a:xfrm>
          <a:prstGeom prst="rect">
            <a:avLst/>
          </a:prstGeom>
          <a:solidFill>
            <a:srgbClr val="1F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55680" cy="12435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310896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Ranker</a:t>
                      </a:r>
                    </a:p>
                  </a:txBody>
                  <a:tcPr marL="73152" marR="45720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CV AUC</a:t>
                      </a:r>
                    </a:p>
                  </a:txBody>
                  <a:tcPr marL="73152" marR="45720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Holdout AUC</a:t>
                      </a:r>
                    </a:p>
                  </a:txBody>
                  <a:tcPr marL="73152" marR="45720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PR-AUC</a:t>
                      </a:r>
                    </a:p>
                  </a:txBody>
                  <a:tcPr marL="73152" marR="45720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F1@τ</a:t>
                      </a:r>
                    </a:p>
                  </a:txBody>
                  <a:tcPr marL="73152" marR="45720" marT="18288" marB="18288" anchor="ctr"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Logistic regression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0.697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0.785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0.414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0.475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Random forest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0.852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0.865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0.619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0.569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XGBoost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0.853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0.864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0.614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0.578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273405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F6FC4"/>
                </a:solidFill>
              </a:rPr>
              <a:t>•  </a:t>
            </a:r>
            <a:r>
              <a:rPr sz="1400">
                <a:solidFill>
                  <a:srgbClr val="14223C"/>
                </a:solidFill>
              </a:rPr>
              <a:t>Tuned via randomized search, </a:t>
            </a:r>
            <a:r>
              <a:rPr sz="1400">
                <a:solidFill>
                  <a:srgbClr val="14223C"/>
                </a:solidFill>
                <a:latin typeface="Consolas"/>
              </a:rPr>
              <a:t>GroupKFold</a:t>
            </a:r>
            <a:r>
              <a:rPr sz="1400">
                <a:solidFill>
                  <a:srgbClr val="14223C"/>
                </a:solidFill>
              </a:rPr>
              <a:t> by customer; τ picked on </a:t>
            </a:r>
            <a:r>
              <a:rPr b="1" sz="1400">
                <a:solidFill>
                  <a:srgbClr val="14223C"/>
                </a:solidFill>
              </a:rPr>
              <a:t>out-of-fold</a:t>
            </a:r>
            <a:r>
              <a:rPr sz="1400">
                <a:solidFill>
                  <a:srgbClr val="14223C"/>
                </a:solidFill>
              </a:rPr>
              <a:t> predictions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F6FC4"/>
                </a:solidFill>
              </a:rPr>
              <a:t>•  </a:t>
            </a:r>
            <a:r>
              <a:rPr sz="1400">
                <a:solidFill>
                  <a:srgbClr val="14223C"/>
                </a:solidFill>
              </a:rPr>
              <a:t>RF train AUC 0.945 vs holdout 0.865; the overfit gap LR doesn't have; XGBoost wins on F1 with a smaller gap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F6FC4"/>
                </a:solidFill>
              </a:rPr>
              <a:t>•  </a:t>
            </a:r>
            <a:r>
              <a:rPr sz="1400">
                <a:solidFill>
                  <a:srgbClr val="14223C"/>
                </a:solidFill>
              </a:rPr>
              <a:t>These metrics </a:t>
            </a:r>
            <a:r>
              <a:rPr b="1" sz="1400">
                <a:solidFill>
                  <a:srgbClr val="14223C"/>
                </a:solidFill>
              </a:rPr>
              <a:t>compare rankers against each other</a:t>
            </a:r>
            <a:r>
              <a:rPr sz="1400">
                <a:solidFill>
                  <a:srgbClr val="14223C"/>
                </a:solidFill>
              </a:rPr>
              <a:t>; sampled 1:4 negatives make absolute values meaningless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223C"/>
                </a:solidFill>
              </a:rPr>
              <a:t>The headline table: end-to-end on 18,390 holdout customers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27940"/>
          </a:xfrm>
          <a:prstGeom prst="rect">
            <a:avLst/>
          </a:prstGeom>
          <a:solidFill>
            <a:srgbClr val="1F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55680" cy="18653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310896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Pipeline</a:t>
                      </a:r>
                    </a:p>
                  </a:txBody>
                  <a:tcPr marL="73152" marR="45720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Hit@10</a:t>
                      </a:r>
                    </a:p>
                  </a:txBody>
                  <a:tcPr marL="73152" marR="45720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95% CI</a:t>
                      </a:r>
                    </a:p>
                  </a:txBody>
                  <a:tcPr marL="73152" marR="45720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NDCG@10</a:t>
                      </a:r>
                    </a:p>
                  </a:txBody>
                  <a:tcPr marL="73152" marR="45720" marT="18288" marB="18288" anchor="ctr"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Popularity only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0.0114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[0.0099, 0.0130]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0.0052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Stage 1 only (routed hybrid)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0.0122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[0.0105, 0.0139]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0.0062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Two-stage + LR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0.0061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[0.0051, 0.0073]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0.0032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Two-stage + RF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0.0132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[0.0115, 0.0150]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0.0064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Two-stage + XGBoost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0.0146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[0.0128, 0.0165]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0.0069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35584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F6FC4"/>
                </a:solidFill>
              </a:rPr>
              <a:t>•  </a:t>
            </a:r>
            <a:r>
              <a:rPr sz="1400">
                <a:solidFill>
                  <a:srgbClr val="14223C"/>
                </a:solidFill>
              </a:rPr>
              <a:t>Paired per-customer difference vs Stage 1: </a:t>
            </a:r>
            <a:r>
              <a:rPr b="1" sz="1400">
                <a:solidFill>
                  <a:srgbClr val="14223C"/>
                </a:solidFill>
              </a:rPr>
              <a:t>+0.0024 [+0.0008, +0.0041]</a:t>
            </a:r>
            <a:r>
              <a:rPr sz="1400">
                <a:solidFill>
                  <a:srgbClr val="14223C"/>
                </a:solidFill>
              </a:rPr>
              <a:t>, i.e. </a:t>
            </a:r>
            <a:r>
              <a:rPr b="1" sz="1400">
                <a:solidFill>
                  <a:srgbClr val="14223C"/>
                </a:solidFill>
              </a:rPr>
              <a:t>+20% relative</a:t>
            </a:r>
            <a:r>
              <a:rPr sz="1400">
                <a:solidFill>
                  <a:srgbClr val="14223C"/>
                </a:solidFill>
              </a:rPr>
              <a:t>, CIs exclude zero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F6FC4"/>
                </a:solidFill>
              </a:rPr>
              <a:t>•  </a:t>
            </a:r>
            <a:r>
              <a:rPr sz="1400">
                <a:solidFill>
                  <a:srgbClr val="14223C"/>
                </a:solidFill>
              </a:rPr>
              <a:t>Re-ranking is not free: the LR re-rank </a:t>
            </a:r>
            <a:r>
              <a:rPr i="1" sz="1400">
                <a:solidFill>
                  <a:srgbClr val="14223C"/>
                </a:solidFill>
              </a:rPr>
              <a:t>halves</a:t>
            </a:r>
            <a:r>
              <a:rPr sz="1400">
                <a:solidFill>
                  <a:srgbClr val="14223C"/>
                </a:solidFill>
              </a:rPr>
              <a:t> performance; stage 2 must earn its place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F6FC4"/>
                </a:solidFill>
              </a:rPr>
              <a:t>•  </a:t>
            </a:r>
            <a:r>
              <a:rPr sz="1400">
                <a:solidFill>
                  <a:srgbClr val="14223C"/>
                </a:solidFill>
              </a:rPr>
              <a:t>Routing reality: </a:t>
            </a:r>
            <a:r>
              <a:rPr b="1" sz="1400">
                <a:solidFill>
                  <a:srgbClr val="14223C"/>
                </a:solidFill>
              </a:rPr>
              <a:t>98.5% of holdout customers are cold</a:t>
            </a:r>
            <a:r>
              <a:rPr sz="1400">
                <a:solidFill>
                  <a:srgbClr val="14223C"/>
                </a:solidFill>
              </a:rPr>
              <a:t>, served regional/global popularity; warm cohort (n=277) is underpowered and slightly prefers raw hybrid, flagged as future work, not hidden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223C"/>
                </a:solidFill>
              </a:rPr>
              <a:t>Explainability: SHAP on the ranker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27940"/>
          </a:xfrm>
          <a:prstGeom prst="rect">
            <a:avLst/>
          </a:prstGeom>
          <a:solidFill>
            <a:srgbClr val="1F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_shap_bee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417320"/>
            <a:ext cx="4297680" cy="4086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325880"/>
            <a:ext cx="6720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F6FC4"/>
                </a:solidFill>
              </a:rPr>
              <a:t>•  </a:t>
            </a:r>
            <a:r>
              <a:rPr sz="1400">
                <a:solidFill>
                  <a:srgbClr val="14223C"/>
                </a:solidFill>
              </a:rPr>
              <a:t>Top signals: product popularity, co-purchase signal, price/spend match, seller stats, distance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F6FC4"/>
                </a:solidFill>
              </a:rPr>
              <a:t>•  </a:t>
            </a:r>
            <a:r>
              <a:rPr b="1" sz="1400">
                <a:solidFill>
                  <a:srgbClr val="14223C"/>
                </a:solidFill>
              </a:rPr>
              <a:t>The counterintuitive one:</a:t>
            </a:r>
            <a:r>
              <a:rPr sz="1400">
                <a:solidFill>
                  <a:srgbClr val="14223C"/>
                </a:solidFill>
              </a:rPr>
              <a:t> within candidate lists, high popularity gets a </a:t>
            </a:r>
            <a:r>
              <a:rPr i="1" sz="1400">
                <a:solidFill>
                  <a:srgbClr val="14223C"/>
                </a:solidFill>
              </a:rPr>
              <a:t>negative</a:t>
            </a:r>
            <a:r>
              <a:rPr sz="1400">
                <a:solidFill>
                  <a:srgbClr val="14223C"/>
                </a:solidFill>
              </a:rPr>
              <a:t> gradient; hard-negative training taught the ranker "popular but still not bought" (PDP peaks then collapses; LIME agrees on signs)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F6FC4"/>
                </a:solidFill>
              </a:rPr>
              <a:t>•  </a:t>
            </a:r>
            <a:r>
              <a:rPr sz="1400">
                <a:solidFill>
                  <a:srgbClr val="14223C"/>
                </a:solidFill>
              </a:rPr>
              <a:t>Cold-start waterfall: with no customer history, product &amp; seller features carry the score, exactly what you'd want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F6FC4"/>
                </a:solidFill>
              </a:rPr>
              <a:t>•  </a:t>
            </a:r>
            <a:r>
              <a:rPr sz="1400">
                <a:solidFill>
                  <a:srgbClr val="14223C"/>
                </a:solidFill>
              </a:rPr>
              <a:t>This SHAP-to-plain-English pipeline later feeds the LLM explanations (Step 9)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223C"/>
                </a:solidFill>
              </a:rPr>
              <a:t>Fairness audit: region as socioeconomic proxy (IBGE-cited)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27940"/>
          </a:xfrm>
          <a:prstGeom prst="rect">
            <a:avLst/>
          </a:prstGeom>
          <a:solidFill>
            <a:srgbClr val="1F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>
                <a:solidFill>
                  <a:srgbClr val="14223C"/>
                </a:solidFill>
              </a:rPr>
              <a:t>Evaluation population = </a:t>
            </a:r>
            <a:r>
              <a:rPr b="1" sz="1250">
                <a:solidFill>
                  <a:srgbClr val="14223C"/>
                </a:solidFill>
              </a:rPr>
              <a:t>Stage-1 candidate lists</a:t>
            </a:r>
            <a:r>
              <a:rPr sz="1250">
                <a:solidFill>
                  <a:srgbClr val="14223C"/>
                </a:solidFill>
              </a:rPr>
              <a:t> (919,500 pairs); per-user random negatives would fake parity. Groups under n&lt;30 positives suppressed (North).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60296"/>
          <a:ext cx="11155680" cy="1554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310896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Region</a:t>
                      </a:r>
                    </a:p>
                  </a:txBody>
                  <a:tcPr marL="73152" marR="45720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TPR@τ</a:t>
                      </a:r>
                    </a:p>
                  </a:txBody>
                  <a:tcPr marL="73152" marR="45720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AUC</a:t>
                      </a:r>
                    </a:p>
                  </a:txBody>
                  <a:tcPr marL="73152" marR="45720" marT="18288" marB="18288" anchor="ctr"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Northeast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0.222</a:t>
                      </a:r>
                      <a:r>
                        <a:rPr sz="1100">
                          <a:solidFill>
                            <a:srgbClr val="14223C"/>
                          </a:solidFill>
                        </a:rPr>
                        <a:t> [0.139, 0.319]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0.825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Center-West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0.100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0.679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South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0.031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0.709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Southeast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0.028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0.714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57936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>
                <a:solidFill>
                  <a:srgbClr val="1F6FC4"/>
                </a:solidFill>
              </a:rPr>
              <a:t>•  </a:t>
            </a:r>
            <a:r>
              <a:rPr b="1" sz="1250">
                <a:solidFill>
                  <a:srgbClr val="14223C"/>
                </a:solidFill>
              </a:rPr>
              <a:t>TPR gap 0.194, favoring the Northeast</a:t>
            </a:r>
            <a:r>
              <a:rPr sz="1250">
                <a:solidFill>
                  <a:srgbClr val="14223C"/>
                </a:solidFill>
              </a:rPr>
              <a:t>, and it persists in final lists (NE hit@10 0.031 vs 0.010-0.014)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>
                <a:solidFill>
                  <a:srgbClr val="1F6FC4"/>
                </a:solidFill>
              </a:rPr>
              <a:t>•  </a:t>
            </a:r>
            <a:r>
              <a:rPr sz="1250">
                <a:solidFill>
                  <a:srgbClr val="14223C"/>
                </a:solidFill>
              </a:rPr>
              <a:t>Mechanism found: Stage-1 </a:t>
            </a:r>
            <a:r>
              <a:rPr b="1" sz="1250">
                <a:solidFill>
                  <a:srgbClr val="14223C"/>
                </a:solidFill>
              </a:rPr>
              <a:t>retrieval recall</a:t>
            </a:r>
            <a:r>
              <a:rPr sz="1250">
                <a:solidFill>
                  <a:srgbClr val="14223C"/>
                </a:solidFill>
              </a:rPr>
              <a:t> is already higher for NE (0.043 vs 0.025-0.032); the disparity starts at candidate generation, not the ranker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>
                <a:solidFill>
                  <a:srgbClr val="1F6FC4"/>
                </a:solidFill>
              </a:rPr>
              <a:t>•  </a:t>
            </a:r>
            <a:r>
              <a:rPr sz="1250">
                <a:solidFill>
                  <a:srgbClr val="14223C"/>
                </a:solidFill>
              </a:rPr>
              <a:t>Fairness-through-unawareness buys nothing: dropping geography features costs accuracy (AUC 0.723 to 0.713) while gaps barely move; the τ-fixed TPR-gap widening (0.194 to 0.292) is partly a calibration artifact; freight &amp; price encode geography anyway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223C"/>
                </a:solidFill>
              </a:rPr>
              <a:t>Provider-side bias &amp; mitigations (matched before/after)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27940"/>
          </a:xfrm>
          <a:prstGeom prst="rect">
            <a:avLst/>
          </a:prstGeom>
          <a:solidFill>
            <a:srgbClr val="1F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_loren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417320"/>
            <a:ext cx="4297680" cy="3581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325880"/>
            <a:ext cx="6720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4223C"/>
                </a:solidFill>
              </a:rPr>
              <a:t>Exposure Gini </a:t>
            </a:r>
            <a:r>
              <a:rPr b="1" sz="1400">
                <a:solidFill>
                  <a:srgbClr val="14223C"/>
                </a:solidFill>
              </a:rPr>
              <a:t>0.9986</a:t>
            </a:r>
            <a:r>
              <a:rPr sz="1400">
                <a:solidFill>
                  <a:srgbClr val="14223C"/>
                </a:solidFill>
              </a:rPr>
              <a:t>; small sellers = 5.9% of catalog, </a:t>
            </a:r>
            <a:r>
              <a:rPr b="1" sz="1400">
                <a:solidFill>
                  <a:srgbClr val="14223C"/>
                </a:solidFill>
              </a:rPr>
              <a:t>0.02% of top-10 slots</a:t>
            </a:r>
            <a:r>
              <a:rPr sz="1400">
                <a:solidFill>
                  <a:srgbClr val="14223C"/>
                </a:solidFill>
              </a:rPr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09064"/>
          <a:ext cx="6720840" cy="1554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60420"/>
                <a:gridCol w="3360420"/>
              </a:tblGrid>
              <a:tr h="310896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Mitigation</a:t>
                      </a:r>
                    </a:p>
                  </a:txBody>
                  <a:tcPr marL="73152" marR="45720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Result</a:t>
                      </a:r>
                    </a:p>
                  </a:txBody>
                  <a:tcPr marL="73152" marR="45720" marT="18288" marB="18288" anchor="ctr"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ThresholdOptimizer (region)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Honest negative, didn't transfer to holdout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Score-penalty re-rank (λ sweep)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Inert; bias sits at </a:t>
                      </a:r>
                      <a:r>
                        <a:rPr i="1" sz="1100">
                          <a:solidFill>
                            <a:srgbClr val="14223C"/>
                          </a:solidFill>
                        </a:rPr>
                        <a:t>candidate generation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23C"/>
                          </a:solidFill>
                        </a:rPr>
                        <a:t>Candidate-stage exploration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Backfired: -73% hits</a:t>
                      </a:r>
                      <a:r>
                        <a:rPr sz="1100">
                          <a:solidFill>
                            <a:srgbClr val="14223C"/>
                          </a:solidFill>
                        </a:rPr>
                        <a:t> (the anti-popularity gradient punishes injected popular-ish items)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Reserved-slot injection (3 of 10)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4223C"/>
                          </a:solidFill>
                        </a:rPr>
                        <a:t>-14.5% Hit@10</a:t>
                      </a:r>
                      <a:r>
                        <a:rPr sz="1100">
                          <a:solidFill>
                            <a:srgbClr val="14223C"/>
                          </a:solidFill>
                        </a:rPr>
                        <a:t> for coverage 0.071 to 0.102, long-tail ×2.1, small sellers ×4.3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628136"/>
            <a:ext cx="6720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14223C"/>
                </a:solidFill>
              </a:rPr>
              <a:t>South pays the most: paired Δ -0.0045 [-0.0078, -0.0021], reported and gated on fresh-window validation before serving.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223C"/>
                </a:solidFill>
              </a:rPr>
              <a:t>From notebooks to a running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27940"/>
          </a:xfrm>
          <a:prstGeom prst="rect">
            <a:avLst/>
          </a:prstGeom>
          <a:solidFill>
            <a:srgbClr val="1F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>
                <a:solidFill>
                  <a:srgbClr val="1F6FC4"/>
                </a:solidFill>
              </a:rPr>
              <a:t>•  </a:t>
            </a:r>
            <a:r>
              <a:rPr b="1" sz="1350">
                <a:solidFill>
                  <a:srgbClr val="14223C"/>
                </a:solidFill>
              </a:rPr>
              <a:t>Serving:</a:t>
            </a:r>
            <a:r>
              <a:rPr sz="1350">
                <a:solidFill>
                  <a:srgbClr val="14223C"/>
                </a:solidFill>
              </a:rPr>
              <a:t> FastAPI </a:t>
            </a:r>
            <a:r>
              <a:rPr sz="1350">
                <a:solidFill>
                  <a:srgbClr val="14223C"/>
                </a:solidFill>
                <a:latin typeface="Consolas"/>
              </a:rPr>
              <a:t>GET /recommend/{customer_id}</a:t>
            </a:r>
            <a:r>
              <a:rPr sz="1350">
                <a:solidFill>
                  <a:srgbClr val="14223C"/>
                </a:solidFill>
              </a:rPr>
              <a:t> runs the </a:t>
            </a:r>
            <a:r>
              <a:rPr i="1" sz="1350">
                <a:solidFill>
                  <a:srgbClr val="14223C"/>
                </a:solidFill>
              </a:rPr>
              <a:t>exact evaluated pipeline</a:t>
            </a:r>
            <a:r>
              <a:rPr sz="1350">
                <a:solidFill>
                  <a:srgbClr val="14223C"/>
                </a:solidFill>
              </a:rPr>
              <a:t> (</a:t>
            </a:r>
            <a:r>
              <a:rPr sz="1350">
                <a:solidFill>
                  <a:srgbClr val="14223C"/>
                </a:solidFill>
                <a:latin typeface="Consolas"/>
              </a:rPr>
              <a:t>src/pipeline.py</a:t>
            </a:r>
            <a:r>
              <a:rPr sz="1350">
                <a:solidFill>
                  <a:srgbClr val="14223C"/>
                </a:solidFill>
              </a:rPr>
              <a:t> shared with the audit notebook); cold-start routing built in; Docker image bakes data + artifacts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>
                <a:solidFill>
                  <a:srgbClr val="1F6FC4"/>
                </a:solidFill>
              </a:rPr>
              <a:t>•  </a:t>
            </a:r>
            <a:r>
              <a:rPr b="1" sz="1350">
                <a:solidFill>
                  <a:srgbClr val="14223C"/>
                </a:solidFill>
              </a:rPr>
              <a:t>MLOps:</a:t>
            </a:r>
            <a:r>
              <a:rPr sz="1350">
                <a:solidFill>
                  <a:srgbClr val="14223C"/>
                </a:solidFill>
              </a:rPr>
              <a:t> configs in YAML, MLflow on every training run, CI (ruff + 38 tests) green since first push, monitoring plan (routing-share drift, then score PSI, then online hit-rate, then monthly exposure), rollback = previous git tag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>
                <a:solidFill>
                  <a:srgbClr val="1F6FC4"/>
                </a:solidFill>
              </a:rPr>
              <a:t>•  </a:t>
            </a:r>
            <a:r>
              <a:rPr b="1" sz="1350">
                <a:solidFill>
                  <a:srgbClr val="14223C"/>
                </a:solidFill>
              </a:rPr>
              <a:t>GenAI (Step 9):</a:t>
            </a:r>
            <a:r>
              <a:rPr sz="1350">
                <a:solidFill>
                  <a:srgbClr val="14223C"/>
                </a:solidFill>
              </a:rPr>
              <a:t> each recommendation's TreeSHAP signals become value-aware plain-English glosses, then one grounded Claude sentence, cached &amp; committed; the grounding bug we caught (asserting a region for an unknown visitor) is preserved as evidence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>
                <a:solidFill>
                  <a:srgbClr val="1F6FC4"/>
                </a:solidFill>
              </a:rPr>
              <a:t>•  </a:t>
            </a:r>
            <a:r>
              <a:rPr sz="1350">
                <a:solidFill>
                  <a:srgbClr val="14223C"/>
                </a:solidFill>
              </a:rPr>
              <a:t>Demo video: </a:t>
            </a:r>
            <a:r>
              <a:rPr sz="1350">
                <a:solidFill>
                  <a:srgbClr val="14223C"/>
                </a:solidFill>
                <a:latin typeface="Consolas"/>
              </a:rPr>
              <a:t>docs/media/demo.mp4</a:t>
            </a:r>
            <a:r>
              <a:rPr sz="1350">
                <a:solidFill>
                  <a:srgbClr val="14223C"/>
                </a:solidFill>
              </a:rPr>
              <a:t> (41s, all three routes + explanations)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223C"/>
                </a:solidFill>
              </a:rPr>
              <a:t>Limitations &amp; what I'd do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27940"/>
          </a:xfrm>
          <a:prstGeom prst="rect">
            <a:avLst/>
          </a:prstGeom>
          <a:solidFill>
            <a:srgbClr val="1F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b="1" sz="1350">
                <a:solidFill>
                  <a:srgbClr val="14223C"/>
                </a:solidFill>
              </a:rPr>
              <a:t>Limitations (also in the report, not fine print):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>
                <a:solidFill>
                  <a:srgbClr val="1F6FC4"/>
                </a:solidFill>
              </a:rPr>
              <a:t>•  </a:t>
            </a:r>
            <a:r>
              <a:rPr sz="1350">
                <a:solidFill>
                  <a:srgbClr val="14223C"/>
                </a:solidFill>
              </a:rPr>
              <a:t>All numbers are </a:t>
            </a:r>
            <a:r>
              <a:rPr b="1" sz="1350">
                <a:solidFill>
                  <a:srgbClr val="14223C"/>
                </a:solidFill>
              </a:rPr>
              <a:t>offline proxies</a:t>
            </a:r>
            <a:r>
              <a:rPr sz="1350">
                <a:solidFill>
                  <a:srgbClr val="14223C"/>
                </a:solidFill>
              </a:rPr>
              <a:t>; validating uplift needs an A/B test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>
                <a:solidFill>
                  <a:srgbClr val="1F6FC4"/>
                </a:solidFill>
              </a:rPr>
              <a:t>•  </a:t>
            </a:r>
            <a:r>
              <a:rPr sz="1350">
                <a:solidFill>
                  <a:srgbClr val="14223C"/>
                </a:solidFill>
              </a:rPr>
              <a:t>Warm-cohort re-rank question is underpowered (n=277); route-conditional re-ranking is the obvious experiment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>
                <a:solidFill>
                  <a:srgbClr val="1F6FC4"/>
                </a:solidFill>
              </a:rPr>
              <a:t>•  </a:t>
            </a:r>
            <a:r>
              <a:rPr sz="1350">
                <a:solidFill>
                  <a:srgbClr val="14223C"/>
                </a:solidFill>
              </a:rPr>
              <a:t>Repurchase drives most personalization hits; CF is starved at 1.04 products/order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>
                <a:solidFill>
                  <a:srgbClr val="1F6FC4"/>
                </a:solidFill>
              </a:rPr>
              <a:t>•  </a:t>
            </a:r>
            <a:r>
              <a:rPr sz="1350">
                <a:solidFill>
                  <a:srgbClr val="14223C"/>
                </a:solidFill>
              </a:rPr>
              <a:t>Fairness mitigation trade-off selected on the audit window, so </a:t>
            </a:r>
            <a:r>
              <a:rPr b="1" sz="1350">
                <a:solidFill>
                  <a:srgbClr val="14223C"/>
                </a:solidFill>
              </a:rPr>
              <a:t>fresh-window validation before enabling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b="1" sz="1350">
                <a:solidFill>
                  <a:srgbClr val="14223C"/>
                </a:solidFill>
              </a:rPr>
              <a:t>Next:</a:t>
            </a:r>
            <a:r>
              <a:rPr sz="1350">
                <a:solidFill>
                  <a:srgbClr val="14223C"/>
                </a:solidFill>
              </a:rPr>
              <a:t> online experiment on repeat buyers · route-conditional re-rank · richer content features (the dataset has no text/images) · category-level objectives for cross-sell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b="1" sz="1350">
                <a:solidFill>
                  <a:srgbClr val="14223C"/>
                </a:solidFill>
              </a:rPr>
              <a:t>Everything reproducible:</a:t>
            </a:r>
            <a:r>
              <a:rPr sz="1350">
                <a:solidFill>
                  <a:srgbClr val="14223C"/>
                </a:solidFill>
              </a:rPr>
              <a:t> seeded runs, pinned configs, committed artifacts, one-command serving.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